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7" r:id="rId2"/>
  </p:sldMasterIdLst>
  <p:sldIdLst>
    <p:sldId id="256" r:id="rId3"/>
    <p:sldId id="257" r:id="rId4"/>
    <p:sldId id="259" r:id="rId5"/>
    <p:sldId id="260" r:id="rId6"/>
    <p:sldId id="261" r:id="rId7"/>
    <p:sldId id="263" r:id="rId8"/>
    <p:sldId id="264" r:id="rId9"/>
    <p:sldId id="265" r:id="rId10"/>
    <p:sldId id="266" r:id="rId1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189880" y="2574000"/>
            <a:ext cx="4493520" cy="149580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284120" y="1555560"/>
            <a:ext cx="6575760" cy="135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accent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47;p13"/>
          <p:cNvSpPr/>
          <p:nvPr/>
        </p:nvSpPr>
        <p:spPr>
          <a:xfrm>
            <a:off x="228600" y="136080"/>
            <a:ext cx="3499920" cy="4871520"/>
          </a:xfrm>
          <a:prstGeom prst="roundRect">
            <a:avLst>
              <a:gd name="adj" fmla="val 8403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" name="Google Shape;48;p13"/>
          <p:cNvSpPr/>
          <p:nvPr/>
        </p:nvSpPr>
        <p:spPr>
          <a:xfrm>
            <a:off x="383400" y="379080"/>
            <a:ext cx="3191760" cy="27144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979440" y="228600"/>
            <a:ext cx="44442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228600" y="920880"/>
            <a:ext cx="50256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18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title"/>
          </p:nvPr>
        </p:nvSpPr>
        <p:spPr>
          <a:xfrm>
            <a:off x="228600" y="1427760"/>
            <a:ext cx="50256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18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title"/>
          </p:nvPr>
        </p:nvSpPr>
        <p:spPr>
          <a:xfrm>
            <a:off x="228600" y="1934640"/>
            <a:ext cx="50256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18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title"/>
          </p:nvPr>
        </p:nvSpPr>
        <p:spPr>
          <a:xfrm>
            <a:off x="228600" y="2441520"/>
            <a:ext cx="50256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18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title"/>
          </p:nvPr>
        </p:nvSpPr>
        <p:spPr>
          <a:xfrm>
            <a:off x="228600" y="2948400"/>
            <a:ext cx="50256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18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7"/>
          <p:cNvSpPr>
            <a:spLocks noGrp="1"/>
          </p:cNvSpPr>
          <p:nvPr>
            <p:ph type="title"/>
          </p:nvPr>
        </p:nvSpPr>
        <p:spPr>
          <a:xfrm>
            <a:off x="228600" y="3455280"/>
            <a:ext cx="50256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18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8"/>
          <p:cNvSpPr>
            <a:spLocks noGrp="1"/>
          </p:cNvSpPr>
          <p:nvPr>
            <p:ph type="title"/>
          </p:nvPr>
        </p:nvSpPr>
        <p:spPr>
          <a:xfrm>
            <a:off x="228600" y="3962160"/>
            <a:ext cx="50256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18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9"/>
          <p:cNvSpPr>
            <a:spLocks noGrp="1"/>
          </p:cNvSpPr>
          <p:nvPr>
            <p:ph type="title"/>
          </p:nvPr>
        </p:nvSpPr>
        <p:spPr>
          <a:xfrm>
            <a:off x="228600" y="4469040"/>
            <a:ext cx="502560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18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Google Shape;74;p13"/>
          <p:cNvSpPr/>
          <p:nvPr/>
        </p:nvSpPr>
        <p:spPr>
          <a:xfrm>
            <a:off x="3805200" y="136080"/>
            <a:ext cx="5202360" cy="4871520"/>
          </a:xfrm>
          <a:prstGeom prst="roundRect">
            <a:avLst>
              <a:gd name="adj" fmla="val 5521"/>
            </a:avLst>
          </a:prstGeom>
          <a:noFill/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76;p14"/>
          <p:cNvSpPr/>
          <p:nvPr/>
        </p:nvSpPr>
        <p:spPr>
          <a:xfrm>
            <a:off x="118440" y="146520"/>
            <a:ext cx="8907120" cy="119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720000" y="45612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80;p15"/>
          <p:cNvSpPr/>
          <p:nvPr/>
        </p:nvSpPr>
        <p:spPr>
          <a:xfrm>
            <a:off x="118440" y="146520"/>
            <a:ext cx="8907120" cy="119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0000" y="458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89;p16"/>
          <p:cNvSpPr/>
          <p:nvPr/>
        </p:nvSpPr>
        <p:spPr>
          <a:xfrm>
            <a:off x="118440" y="146520"/>
            <a:ext cx="8907120" cy="119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0000" y="458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2347920" y="830160"/>
            <a:ext cx="444780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3" name="Google Shape;106;p17"/>
          <p:cNvSpPr/>
          <p:nvPr/>
        </p:nvSpPr>
        <p:spPr>
          <a:xfrm>
            <a:off x="435600" y="3666960"/>
            <a:ext cx="8272440" cy="1044360"/>
          </a:xfrm>
          <a:prstGeom prst="roundRect">
            <a:avLst>
              <a:gd name="adj" fmla="val 17679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" name="Google Shape;107;p17"/>
          <p:cNvSpPr/>
          <p:nvPr/>
        </p:nvSpPr>
        <p:spPr>
          <a:xfrm>
            <a:off x="2099160" y="3710160"/>
            <a:ext cx="49453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CREDITS: This presentation template was created by </a:t>
            </a:r>
            <a:r>
              <a:rPr lang="en" sz="1200" b="1" u="sng" strike="noStrike">
                <a:solidFill>
                  <a:schemeClr val="hlink"/>
                </a:solidFill>
                <a:effectLst/>
                <a:uFillTx/>
                <a:latin typeface="Funnel Sans"/>
                <a:ea typeface="Funnel Sans"/>
                <a:hlinkClick r:id="rId2"/>
              </a:rPr>
              <a:t>Slidesgo</a:t>
            </a:r>
            <a:r>
              <a:rPr lang="en" sz="1200" b="1" u="none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,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 and includes icons, infographics &amp; images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  <a:hlinkClick r:id="rId3"/>
              </a:rPr>
              <a:t>Freepik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" name="Google Shape;108;p17"/>
          <p:cNvSpPr/>
          <p:nvPr/>
        </p:nvSpPr>
        <p:spPr>
          <a:xfrm>
            <a:off x="435600" y="557640"/>
            <a:ext cx="8272440" cy="2968920"/>
          </a:xfrm>
          <a:prstGeom prst="roundRect">
            <a:avLst>
              <a:gd name="adj" fmla="val 7654"/>
            </a:avLst>
          </a:prstGeom>
          <a:noFill/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110;p18"/>
          <p:cNvSpPr/>
          <p:nvPr/>
        </p:nvSpPr>
        <p:spPr>
          <a:xfrm>
            <a:off x="118440" y="146520"/>
            <a:ext cx="8907120" cy="119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112;p19"/>
          <p:cNvSpPr/>
          <p:nvPr/>
        </p:nvSpPr>
        <p:spPr>
          <a:xfrm rot="5400000">
            <a:off x="4471200" y="532800"/>
            <a:ext cx="201600" cy="862812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FF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69080" y="1719360"/>
            <a:ext cx="6339960" cy="2123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title"/>
          </p:nvPr>
        </p:nvSpPr>
        <p:spPr>
          <a:xfrm>
            <a:off x="469080" y="487080"/>
            <a:ext cx="118224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accent2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720000" y="2286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720000" y="99936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19;p5"/>
          <p:cNvSpPr/>
          <p:nvPr/>
        </p:nvSpPr>
        <p:spPr>
          <a:xfrm>
            <a:off x="118440" y="146520"/>
            <a:ext cx="8907120" cy="119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20000" y="458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4" name="Google Shape;25;p5"/>
          <p:cNvSpPr/>
          <p:nvPr/>
        </p:nvSpPr>
        <p:spPr>
          <a:xfrm rot="5400000">
            <a:off x="4492080" y="429840"/>
            <a:ext cx="222480" cy="89694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FFA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720000" y="458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6" name="Google Shape;28;p6"/>
          <p:cNvSpPr/>
          <p:nvPr/>
        </p:nvSpPr>
        <p:spPr>
          <a:xfrm>
            <a:off x="136080" y="132480"/>
            <a:ext cx="8871840" cy="4952520"/>
          </a:xfrm>
          <a:prstGeom prst="roundRect">
            <a:avLst>
              <a:gd name="adj" fmla="val 5521"/>
            </a:avLst>
          </a:prstGeom>
          <a:noFill/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0;p7"/>
          <p:cNvSpPr/>
          <p:nvPr/>
        </p:nvSpPr>
        <p:spPr>
          <a:xfrm>
            <a:off x="118440" y="146520"/>
            <a:ext cx="8907120" cy="119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0000" y="458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133280" y="1896480"/>
            <a:ext cx="6876720" cy="1204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228600" y="601920"/>
            <a:ext cx="4728240" cy="1402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5659200" y="0"/>
            <a:ext cx="34844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3" name="PlaceHolder 2"/>
          <p:cNvSpPr>
            <a:spLocks noGrp="1"/>
          </p:cNvSpPr>
          <p:nvPr>
            <p:ph type="title"/>
          </p:nvPr>
        </p:nvSpPr>
        <p:spPr>
          <a:xfrm>
            <a:off x="1390320" y="3955680"/>
            <a:ext cx="6363360" cy="5724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118;p22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121;p23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8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128;p24"/>
          <p:cNvPicPr/>
          <p:nvPr/>
        </p:nvPicPr>
        <p:blipFill>
          <a:blip r:embed="rId2"/>
          <a:srcRect t="13906" r="6550" b="7347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0" name="Google Shape;129;p24"/>
          <p:cNvGrpSpPr/>
          <p:nvPr/>
        </p:nvGrpSpPr>
        <p:grpSpPr>
          <a:xfrm>
            <a:off x="228600" y="228600"/>
            <a:ext cx="8672400" cy="4656960"/>
            <a:chOff x="228600" y="228600"/>
            <a:chExt cx="8672400" cy="4656960"/>
          </a:xfrm>
        </p:grpSpPr>
        <p:sp>
          <p:nvSpPr>
            <p:cNvPr id="51" name="Google Shape;130;p24"/>
            <p:cNvSpPr/>
            <p:nvPr/>
          </p:nvSpPr>
          <p:spPr>
            <a:xfrm>
              <a:off x="2050200" y="257760"/>
              <a:ext cx="6850800" cy="3777120"/>
            </a:xfrm>
            <a:prstGeom prst="roundRect">
              <a:avLst>
                <a:gd name="adj" fmla="val 7195"/>
              </a:avLst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" name="Google Shape;131;p24"/>
            <p:cNvSpPr/>
            <p:nvPr/>
          </p:nvSpPr>
          <p:spPr>
            <a:xfrm>
              <a:off x="2050200" y="4174560"/>
              <a:ext cx="6850800" cy="710640"/>
            </a:xfrm>
            <a:prstGeom prst="roundRect">
              <a:avLst>
                <a:gd name="adj" fmla="val 24504"/>
              </a:avLst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53" name="Google Shape;132;p24"/>
            <p:cNvGrpSpPr/>
            <p:nvPr/>
          </p:nvGrpSpPr>
          <p:grpSpPr>
            <a:xfrm>
              <a:off x="228600" y="228600"/>
              <a:ext cx="1673640" cy="4656960"/>
              <a:chOff x="228600" y="228600"/>
              <a:chExt cx="1673640" cy="4656960"/>
            </a:xfrm>
          </p:grpSpPr>
          <p:sp>
            <p:nvSpPr>
              <p:cNvPr id="54" name="Google Shape;133;p24"/>
              <p:cNvSpPr/>
              <p:nvPr/>
            </p:nvSpPr>
            <p:spPr>
              <a:xfrm>
                <a:off x="228600" y="228600"/>
                <a:ext cx="1673640" cy="4656960"/>
              </a:xfrm>
              <a:prstGeom prst="roundRect">
                <a:avLst>
                  <a:gd name="adj" fmla="val 13823"/>
                </a:avLst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5" name="Google Shape;134;p24"/>
              <p:cNvSpPr/>
              <p:nvPr/>
            </p:nvSpPr>
            <p:spPr>
              <a:xfrm>
                <a:off x="313560" y="334440"/>
                <a:ext cx="1498320" cy="23652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 w="9525">
                <a:solidFill>
                  <a:srgbClr val="00FFA4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3520" bIns="835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2190600" y="2571840"/>
            <a:ext cx="4495320" cy="149508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1" u="none" strike="noStrike" dirty="0">
                <a:solidFill>
                  <a:schemeClr val="dk1"/>
                </a:solidFill>
                <a:effectLst/>
                <a:uFillTx/>
                <a:latin typeface="Manrope"/>
              </a:rPr>
              <a:t>Red Teaming-</a:t>
            </a:r>
            <a:r>
              <a:rPr lang="en-US" sz="4200" b="1" u="none" strike="noStrike" dirty="0" err="1">
                <a:solidFill>
                  <a:schemeClr val="dk1"/>
                </a:solidFill>
                <a:effectLst/>
                <a:uFillTx/>
                <a:latin typeface="Manrope"/>
              </a:rPr>
              <a:t>Holo</a:t>
            </a:r>
            <a:endParaRPr lang="fr-FR" sz="4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subTitle"/>
          </p:nvPr>
        </p:nvSpPr>
        <p:spPr>
          <a:xfrm>
            <a:off x="2190600" y="4324320"/>
            <a:ext cx="5800320" cy="47592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Funnel Sans Light"/>
              </a:rPr>
              <a:t>Web Server Enumeration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224;p28"/>
          <p:cNvGrpSpPr/>
          <p:nvPr/>
        </p:nvGrpSpPr>
        <p:grpSpPr>
          <a:xfrm>
            <a:off x="118440" y="1505520"/>
            <a:ext cx="8907120" cy="3546720"/>
            <a:chOff x="118440" y="1505520"/>
            <a:chExt cx="8907120" cy="3546720"/>
          </a:xfrm>
        </p:grpSpPr>
        <p:sp>
          <p:nvSpPr>
            <p:cNvPr id="59" name="Google Shape;225;p28"/>
            <p:cNvSpPr/>
            <p:nvPr/>
          </p:nvSpPr>
          <p:spPr>
            <a:xfrm>
              <a:off x="118440" y="1505520"/>
              <a:ext cx="8906760" cy="3157920"/>
            </a:xfrm>
            <a:prstGeom prst="roundRect">
              <a:avLst>
                <a:gd name="adj" fmla="val 5521"/>
              </a:avLst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" name="Google Shape;226;p28"/>
            <p:cNvSpPr/>
            <p:nvPr/>
          </p:nvSpPr>
          <p:spPr>
            <a:xfrm rot="5400000">
              <a:off x="4471200" y="497880"/>
              <a:ext cx="201600" cy="890676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00FFA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723960" y="45720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Introduction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subTitle"/>
          </p:nvPr>
        </p:nvSpPr>
        <p:spPr>
          <a:xfrm>
            <a:off x="695160" y="1809720"/>
            <a:ext cx="7762680" cy="261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Funnel Sans"/>
              </a:rPr>
              <a:t>This presentation covers core asset discovery techniques for web server penetration testing, focusing on fuzzing and enumeration methods to identify potential vulnerabilities and attack surfaces.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224;p28"/>
          <p:cNvGrpSpPr/>
          <p:nvPr/>
        </p:nvGrpSpPr>
        <p:grpSpPr>
          <a:xfrm>
            <a:off x="118440" y="1505520"/>
            <a:ext cx="8907120" cy="3546720"/>
            <a:chOff x="118440" y="1505520"/>
            <a:chExt cx="8907120" cy="3546720"/>
          </a:xfrm>
        </p:grpSpPr>
        <p:sp>
          <p:nvSpPr>
            <p:cNvPr id="70" name="Google Shape;225;p28"/>
            <p:cNvSpPr/>
            <p:nvPr/>
          </p:nvSpPr>
          <p:spPr>
            <a:xfrm>
              <a:off x="118440" y="1505520"/>
              <a:ext cx="8906760" cy="3157920"/>
            </a:xfrm>
            <a:prstGeom prst="roundRect">
              <a:avLst>
                <a:gd name="adj" fmla="val 5521"/>
              </a:avLst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" name="Google Shape;226;p28"/>
            <p:cNvSpPr/>
            <p:nvPr/>
          </p:nvSpPr>
          <p:spPr>
            <a:xfrm rot="5400000">
              <a:off x="4471200" y="497880"/>
              <a:ext cx="201600" cy="890676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00FFA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723960" y="45720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Data Sources and Collection Methods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ubTitle"/>
          </p:nvPr>
        </p:nvSpPr>
        <p:spPr>
          <a:xfrm>
            <a:off x="695160" y="1809720"/>
            <a:ext cx="7762680" cy="261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Funnel Sans"/>
              </a:rPr>
              <a:t>Common tools for asset discovery include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Funnel Sans"/>
              </a:rPr>
              <a:t>Gobuster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Funnel Sans"/>
              </a:rPr>
              <a:t>,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Funnel Sans"/>
              </a:rPr>
              <a:t>Wfuzz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Funnel Sans"/>
              </a:rPr>
              <a:t>, and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Funnel Sans"/>
              </a:rPr>
              <a:t>Dirbuster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Funnel Sans"/>
              </a:rPr>
              <a:t>. They utilize dictionary attacks to uncover directories, files, and virtual hosts by analyzing HTTP status codes, such as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Funnel Sans"/>
              </a:rPr>
              <a:t>200 OK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Funnel Sans"/>
              </a:rPr>
              <a:t> for valid files and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Funnel Sans"/>
              </a:rPr>
              <a:t>404 File Not Found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Funnel Sans"/>
              </a:rPr>
              <a:t> for invalid ones.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224;p28"/>
          <p:cNvGrpSpPr/>
          <p:nvPr/>
        </p:nvGrpSpPr>
        <p:grpSpPr>
          <a:xfrm>
            <a:off x="118440" y="1505520"/>
            <a:ext cx="8907120" cy="3546720"/>
            <a:chOff x="118440" y="1505520"/>
            <a:chExt cx="8907120" cy="3546720"/>
          </a:xfrm>
        </p:grpSpPr>
        <p:sp>
          <p:nvSpPr>
            <p:cNvPr id="75" name="Google Shape;225;p28"/>
            <p:cNvSpPr/>
            <p:nvPr/>
          </p:nvSpPr>
          <p:spPr>
            <a:xfrm>
              <a:off x="118440" y="1505520"/>
              <a:ext cx="8906760" cy="3157920"/>
            </a:xfrm>
            <a:prstGeom prst="roundRect">
              <a:avLst>
                <a:gd name="adj" fmla="val 5521"/>
              </a:avLst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" name="Google Shape;226;p28"/>
            <p:cNvSpPr/>
            <p:nvPr/>
          </p:nvSpPr>
          <p:spPr>
            <a:xfrm rot="5400000">
              <a:off x="4471200" y="497880"/>
              <a:ext cx="201600" cy="890676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00FFA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723960" y="45720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Key Data Metrics and Indicators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subTitle"/>
          </p:nvPr>
        </p:nvSpPr>
        <p:spPr>
          <a:xfrm>
            <a:off x="695160" y="1809720"/>
            <a:ext cx="7762680" cy="261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Funnel Sans"/>
              </a:rPr>
              <a:t>Important scanning data include open ports, running services like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Funnel Sans"/>
              </a:rPr>
              <a:t>WordPress 5.5.3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Funnel Sans"/>
              </a:rPr>
              <a:t>, and virtual hosts such as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Funnel Sans"/>
              </a:rPr>
              <a:t>admin.holo.live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Funnel Sans"/>
              </a:rPr>
              <a:t> and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Funnel Sans"/>
              </a:rPr>
              <a:t>dev.holo.live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Funnel Sans"/>
              </a:rPr>
              <a:t>. Monitoring thread count during scans prevents server crashes and ensures accurate enumeration results.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280;p31"/>
          <p:cNvPicPr/>
          <p:nvPr/>
        </p:nvPicPr>
        <p:blipFill>
          <a:blip r:embed="rId2"/>
          <a:srcRect l="13798" r="1556"/>
          <a:stretch/>
        </p:blipFill>
        <p:spPr>
          <a:xfrm>
            <a:off x="5659200" y="0"/>
            <a:ext cx="348444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80" name="Google Shape;281;p31"/>
          <p:cNvGrpSpPr/>
          <p:nvPr/>
        </p:nvGrpSpPr>
        <p:grpSpPr>
          <a:xfrm>
            <a:off x="118440" y="585360"/>
            <a:ext cx="8907120" cy="4466880"/>
            <a:chOff x="118440" y="585360"/>
            <a:chExt cx="8907120" cy="4466880"/>
          </a:xfrm>
        </p:grpSpPr>
        <p:sp>
          <p:nvSpPr>
            <p:cNvPr id="81" name="Google Shape;282;p31"/>
            <p:cNvSpPr/>
            <p:nvPr/>
          </p:nvSpPr>
          <p:spPr>
            <a:xfrm>
              <a:off x="118440" y="585360"/>
              <a:ext cx="5191920" cy="149112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" name="Google Shape;283;p31"/>
            <p:cNvSpPr/>
            <p:nvPr/>
          </p:nvSpPr>
          <p:spPr>
            <a:xfrm rot="5400000">
              <a:off x="4471200" y="497880"/>
              <a:ext cx="201600" cy="890676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00FFA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228600" y="600120"/>
            <a:ext cx="4723920" cy="1399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Data Quality and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 Reliability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ubTitle"/>
          </p:nvPr>
        </p:nvSpPr>
        <p:spPr>
          <a:xfrm>
            <a:off x="228600" y="2314440"/>
            <a:ext cx="4028760" cy="2095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Funnel Sans"/>
              </a:rPr>
              <a:t>Effective enumeration requires managing tool thread counts to prevent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Funnel Sans"/>
              </a:rPr>
              <a:t>server crashes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Funnel Sans"/>
              </a:rPr>
              <a:t>, ensuring reliable results. Status codes like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Funnel Sans"/>
              </a:rPr>
              <a:t>200 OK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Funnel Sans"/>
              </a:rPr>
              <a:t> and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Funnel Sans"/>
              </a:rPr>
              <a:t>404 Not Found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Funnel Sans"/>
              </a:rPr>
              <a:t> are critical for validating discovered files and directories during asset discovery.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224;p28"/>
          <p:cNvGrpSpPr/>
          <p:nvPr/>
        </p:nvGrpSpPr>
        <p:grpSpPr>
          <a:xfrm>
            <a:off x="118440" y="1505520"/>
            <a:ext cx="8907120" cy="3546720"/>
            <a:chOff x="118440" y="1505520"/>
            <a:chExt cx="8907120" cy="3546720"/>
          </a:xfrm>
        </p:grpSpPr>
        <p:sp>
          <p:nvSpPr>
            <p:cNvPr id="92" name="Google Shape;225;p28"/>
            <p:cNvSpPr/>
            <p:nvPr/>
          </p:nvSpPr>
          <p:spPr>
            <a:xfrm>
              <a:off x="118440" y="1505520"/>
              <a:ext cx="8906760" cy="3157920"/>
            </a:xfrm>
            <a:prstGeom prst="roundRect">
              <a:avLst>
                <a:gd name="adj" fmla="val 5521"/>
              </a:avLst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" name="Google Shape;226;p28"/>
            <p:cNvSpPr/>
            <p:nvPr/>
          </p:nvSpPr>
          <p:spPr>
            <a:xfrm rot="5400000">
              <a:off x="4471200" y="497880"/>
              <a:ext cx="201600" cy="890676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00FFA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723960" y="45720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Analytical Approaches and Tools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695160" y="1809720"/>
            <a:ext cx="7762680" cy="261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Funnel Sans"/>
              </a:rPr>
              <a:t>Tools such as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Funnel Sans"/>
              </a:rPr>
              <a:t>Gobuster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Funnel Sans"/>
              </a:rPr>
              <a:t> and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Funnel Sans"/>
              </a:rPr>
              <a:t>Wfuzz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Funnel Sans"/>
              </a:rPr>
              <a:t> perform dictionary attacks to identify hidden web assets by analyzing HTTP responses with configurable options like thread count and filtering status codes.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224;p28"/>
          <p:cNvGrpSpPr/>
          <p:nvPr/>
        </p:nvGrpSpPr>
        <p:grpSpPr>
          <a:xfrm>
            <a:off x="118440" y="1505520"/>
            <a:ext cx="8907120" cy="3546720"/>
            <a:chOff x="118440" y="1505520"/>
            <a:chExt cx="8907120" cy="3546720"/>
          </a:xfrm>
        </p:grpSpPr>
        <p:sp>
          <p:nvSpPr>
            <p:cNvPr id="97" name="Google Shape;225;p28"/>
            <p:cNvSpPr/>
            <p:nvPr/>
          </p:nvSpPr>
          <p:spPr>
            <a:xfrm>
              <a:off x="118440" y="1505520"/>
              <a:ext cx="8906760" cy="3157920"/>
            </a:xfrm>
            <a:prstGeom prst="roundRect">
              <a:avLst>
                <a:gd name="adj" fmla="val 5521"/>
              </a:avLst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" name="Google Shape;226;p28"/>
            <p:cNvSpPr/>
            <p:nvPr/>
          </p:nvSpPr>
          <p:spPr>
            <a:xfrm rot="5400000">
              <a:off x="4471200" y="497880"/>
              <a:ext cx="201600" cy="890676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00FFA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723960" y="45720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Trends and Patterns Identified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subTitle"/>
          </p:nvPr>
        </p:nvSpPr>
        <p:spPr>
          <a:xfrm>
            <a:off x="695160" y="1809720"/>
            <a:ext cx="7762680" cy="261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Funnel Sans"/>
              </a:rPr>
              <a:t>Observed attack surfaces include multiple virtual hosts (e.g.,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Funnel Sans"/>
              </a:rPr>
              <a:t>admin.holo.live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Funnel Sans"/>
              </a:rPr>
              <a:t>,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Funnel Sans"/>
              </a:rPr>
              <a:t>dev.holo.live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Funnel Sans"/>
              </a:rPr>
              <a:t>) and vulnerabilities like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Funnel Sans"/>
              </a:rPr>
              <a:t>Local File Inclusion (LFI)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Funnel Sans"/>
              </a:rPr>
              <a:t>, exploited via directory traversal to access sensitive server files.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280;p31"/>
          <p:cNvPicPr/>
          <p:nvPr/>
        </p:nvPicPr>
        <p:blipFill>
          <a:blip r:embed="rId2"/>
          <a:srcRect l="13798" r="1556"/>
          <a:stretch/>
        </p:blipFill>
        <p:spPr>
          <a:xfrm>
            <a:off x="5659200" y="0"/>
            <a:ext cx="348444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02" name="Google Shape;281;p31"/>
          <p:cNvGrpSpPr/>
          <p:nvPr/>
        </p:nvGrpSpPr>
        <p:grpSpPr>
          <a:xfrm>
            <a:off x="118440" y="585360"/>
            <a:ext cx="8907120" cy="4466880"/>
            <a:chOff x="118440" y="585360"/>
            <a:chExt cx="8907120" cy="4466880"/>
          </a:xfrm>
        </p:grpSpPr>
        <p:sp>
          <p:nvSpPr>
            <p:cNvPr id="103" name="Google Shape;282;p31"/>
            <p:cNvSpPr/>
            <p:nvPr/>
          </p:nvSpPr>
          <p:spPr>
            <a:xfrm>
              <a:off x="118440" y="585360"/>
              <a:ext cx="5191920" cy="149112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" name="Google Shape;283;p31"/>
            <p:cNvSpPr/>
            <p:nvPr/>
          </p:nvSpPr>
          <p:spPr>
            <a:xfrm rot="5400000">
              <a:off x="4471200" y="497880"/>
              <a:ext cx="201600" cy="890676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00FFA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228600" y="600120"/>
            <a:ext cx="4723920" cy="1399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Strategic Implications and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 Recommendations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subTitle"/>
          </p:nvPr>
        </p:nvSpPr>
        <p:spPr>
          <a:xfrm>
            <a:off x="228600" y="2314440"/>
            <a:ext cx="4028760" cy="2095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Funnel Sans"/>
              </a:rPr>
              <a:t>To reduce risk, limit enumeration thread counts to avoid service disruption, properly configure virtual hosts, and remediate vulnerabilities such as LFI by validating input and restricting file access.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280;p31"/>
          <p:cNvPicPr/>
          <p:nvPr/>
        </p:nvPicPr>
        <p:blipFill>
          <a:blip r:embed="rId2"/>
          <a:srcRect l="13798" r="1556"/>
          <a:stretch/>
        </p:blipFill>
        <p:spPr>
          <a:xfrm>
            <a:off x="5659200" y="0"/>
            <a:ext cx="348444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08" name="Google Shape;281;p31"/>
          <p:cNvGrpSpPr/>
          <p:nvPr/>
        </p:nvGrpSpPr>
        <p:grpSpPr>
          <a:xfrm>
            <a:off x="118440" y="585360"/>
            <a:ext cx="8907120" cy="4466880"/>
            <a:chOff x="118440" y="585360"/>
            <a:chExt cx="8907120" cy="4466880"/>
          </a:xfrm>
        </p:grpSpPr>
        <p:sp>
          <p:nvSpPr>
            <p:cNvPr id="109" name="Google Shape;282;p31"/>
            <p:cNvSpPr/>
            <p:nvPr/>
          </p:nvSpPr>
          <p:spPr>
            <a:xfrm>
              <a:off x="118440" y="585360"/>
              <a:ext cx="5191920" cy="149112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" name="Google Shape;283;p31"/>
            <p:cNvSpPr/>
            <p:nvPr/>
          </p:nvSpPr>
          <p:spPr>
            <a:xfrm rot="5400000">
              <a:off x="4471200" y="497880"/>
              <a:ext cx="201600" cy="890676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00FFA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228600" y="600120"/>
            <a:ext cx="4723920" cy="1399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7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Conclusions</a:t>
            </a:r>
            <a:endParaRPr lang="fr-FR" sz="2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subTitle"/>
          </p:nvPr>
        </p:nvSpPr>
        <p:spPr>
          <a:xfrm>
            <a:off x="228600" y="2314440"/>
            <a:ext cx="4028760" cy="2095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Funnel Sans"/>
              </a:rPr>
              <a:t>Asset discovery and enumeration tools are essential for identifying web server risks. Managing tool usage carefully and addressing identified vulnerabilities strengthens security posture and minimizes attack surface exposure.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puter Architecture by Slidesgo">
  <a:themeElements>
    <a:clrScheme name="Simple Light">
      <a:dk1>
        <a:srgbClr val="FFFFFF"/>
      </a:dk1>
      <a:lt1>
        <a:srgbClr val="0E0E0E"/>
      </a:lt1>
      <a:dk2>
        <a:srgbClr val="FFFFFF"/>
      </a:dk2>
      <a:lt2>
        <a:srgbClr val="222222"/>
      </a:lt2>
      <a:accent1>
        <a:srgbClr val="D9D9D9"/>
      </a:accent1>
      <a:accent2>
        <a:srgbClr val="00FFA4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325</Words>
  <Application>Microsoft Office PowerPoint</Application>
  <PresentationFormat>On-screen Show (16:9)</PresentationFormat>
  <Paragraphs>20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Calibri</vt:lpstr>
      <vt:lpstr>Funnel Sans</vt:lpstr>
      <vt:lpstr>Manrope</vt:lpstr>
      <vt:lpstr>OpenSymbol</vt:lpstr>
      <vt:lpstr>Symbol</vt:lpstr>
      <vt:lpstr>Wingdings</vt:lpstr>
      <vt:lpstr>Computer Architecture by Slidesgo</vt:lpstr>
      <vt:lpstr>Slidesgo Final Pages</vt:lpstr>
      <vt:lpstr>Red Teaming-Holo</vt:lpstr>
      <vt:lpstr>Introduction</vt:lpstr>
      <vt:lpstr>Data Sources and Collection Methods</vt:lpstr>
      <vt:lpstr>Key Data Metrics and Indicators</vt:lpstr>
      <vt:lpstr>Data Quality and  Reliability</vt:lpstr>
      <vt:lpstr>Analytical Approaches and Tools</vt:lpstr>
      <vt:lpstr>Trends and Patterns Identified</vt:lpstr>
      <vt:lpstr>Strategic Implications and  Recommendations</vt:lpstr>
      <vt:lpstr>Conclusions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mohammed shier</dc:creator>
  <cp:lastModifiedBy>mohammed shier</cp:lastModifiedBy>
  <cp:revision>1</cp:revision>
  <dcterms:modified xsi:type="dcterms:W3CDTF">2025-09-27T18:18:29Z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2025-09-27T18:16:08Z</dcterms:created>
  <dc:creator>Unknown Creator</dc:creator>
  <dc:description/>
  <dc:language>en-US</dc:language>
  <cp:lastModifiedBy>Unknown Creator</cp:lastModifiedBy>
  <dcterms:modified xsi:type="dcterms:W3CDTF">2025-09-27T18:16:08Z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